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Platypi Medium"/>
      <p:regular r:id="rId8"/>
    </p:embeddedFont>
    <p:embeddedFont>
      <p:font typeface="Platypi Medium"/>
      <p:regular r:id="rId9"/>
    </p:embeddedFont>
    <p:embeddedFont>
      <p:font typeface="Platypi Medium"/>
      <p:regular r:id="rId10"/>
    </p:embeddedFont>
    <p:embeddedFont>
      <p:font typeface="Platypi Medium"/>
      <p:regular r:id="rId11"/>
    </p:embeddedFont>
    <p:embeddedFont>
      <p:font typeface="Source Serif 4"/>
      <p:regular r:id="rId12"/>
    </p:embeddedFont>
    <p:embeddedFont>
      <p:font typeface="Source Serif 4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71800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Navigating the Digital World: Your Essential Toolkit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779502"/>
            <a:ext cx="7825502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Digital literacy empowers you to thrive in today's connected world. From finding and evaluating information to creating and communicating effectively, these skills are fundamental to being a confident, responsible digital citizen. This guide covers essential tools, safety practices, and professional standards to help you succeed.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02449" y="1272778"/>
            <a:ext cx="275736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Digital Literacy?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3402449" y="1641277"/>
            <a:ext cx="7825502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Digital literacy encompasses the ability to find, evaluate, create, and communicate information using digital technologies. It's about being a confident and responsible digital citizen in our increasingly connected world.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02449" y="1998464"/>
            <a:ext cx="393120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Essential Digital Tools for Students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402449" y="2366962"/>
            <a:ext cx="3884414" cy="1242893"/>
          </a:xfrm>
          <a:prstGeom prst="roundRect">
            <a:avLst>
              <a:gd name="adj" fmla="val 1369"/>
            </a:avLst>
          </a:prstGeom>
          <a:solidFill>
            <a:srgbClr val="F9F7F7"/>
          </a:solidFill>
          <a:ln/>
        </p:spPr>
      </p:sp>
      <p:sp>
        <p:nvSpPr>
          <p:cNvPr id="8" name="Shape 6"/>
          <p:cNvSpPr/>
          <p:nvPr/>
        </p:nvSpPr>
        <p:spPr>
          <a:xfrm>
            <a:off x="3515797" y="2480310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3E251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09380" y="2573893"/>
            <a:ext cx="152995" cy="1529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515797" y="2877145"/>
            <a:ext cx="167699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Collaboration Platforms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515797" y="3088243"/>
            <a:ext cx="365771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Google Workspace (Docs, Sheets, Slides), Microsoft 365 (Word, Excel, PowerPoint) - perfect for group projects and document creation.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343537" y="2366962"/>
            <a:ext cx="3884414" cy="1242893"/>
          </a:xfrm>
          <a:prstGeom prst="roundRect">
            <a:avLst>
              <a:gd name="adj" fmla="val 1369"/>
            </a:avLst>
          </a:prstGeom>
          <a:solidFill>
            <a:srgbClr val="F9F7F7"/>
          </a:solidFill>
          <a:ln/>
        </p:spPr>
      </p:sp>
      <p:sp>
        <p:nvSpPr>
          <p:cNvPr id="13" name="Shape 10"/>
          <p:cNvSpPr/>
          <p:nvPr/>
        </p:nvSpPr>
        <p:spPr>
          <a:xfrm>
            <a:off x="7456884" y="2480310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3E251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0468" y="2573893"/>
            <a:ext cx="152995" cy="15299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6884" y="2877145"/>
            <a:ext cx="173093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Research &amp; Organisation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56884" y="3088243"/>
            <a:ext cx="365771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Notion, Evernote, Zotero - powerful tools for note-taking, research management, and keeping your projects organised.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402449" y="3666530"/>
            <a:ext cx="3884414" cy="1242893"/>
          </a:xfrm>
          <a:prstGeom prst="roundRect">
            <a:avLst>
              <a:gd name="adj" fmla="val 1369"/>
            </a:avLst>
          </a:prstGeom>
          <a:solidFill>
            <a:srgbClr val="F9F7F7"/>
          </a:solidFill>
          <a:ln/>
        </p:spPr>
      </p:sp>
      <p:sp>
        <p:nvSpPr>
          <p:cNvPr id="18" name="Shape 14"/>
          <p:cNvSpPr/>
          <p:nvPr/>
        </p:nvSpPr>
        <p:spPr>
          <a:xfrm>
            <a:off x="3515797" y="3779877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3E251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09380" y="3873460"/>
            <a:ext cx="152995" cy="1529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15797" y="41767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Creative Expression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515797" y="4387810"/>
            <a:ext cx="365771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Canva, Adobe Express, DaVinci Resolve (free version) - design stunning presentations, videos, and visual content with ease.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343537" y="3666530"/>
            <a:ext cx="3884414" cy="1242893"/>
          </a:xfrm>
          <a:prstGeom prst="roundRect">
            <a:avLst>
              <a:gd name="adj" fmla="val 1369"/>
            </a:avLst>
          </a:prstGeom>
          <a:solidFill>
            <a:srgbClr val="F9F7F7"/>
          </a:solidFill>
          <a:ln/>
        </p:spPr>
      </p:sp>
      <p:sp>
        <p:nvSpPr>
          <p:cNvPr id="23" name="Shape 18"/>
          <p:cNvSpPr/>
          <p:nvPr/>
        </p:nvSpPr>
        <p:spPr>
          <a:xfrm>
            <a:off x="7456884" y="3779877"/>
            <a:ext cx="340162" cy="340162"/>
          </a:xfrm>
          <a:prstGeom prst="roundRect">
            <a:avLst>
              <a:gd name="adj" fmla="val 26878621"/>
            </a:avLst>
          </a:prstGeom>
          <a:solidFill>
            <a:srgbClr val="3E251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0468" y="3873460"/>
            <a:ext cx="152995" cy="15299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56884" y="417671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Learning Platforms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56884" y="4387810"/>
            <a:ext cx="365771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Moodle, Canvas, Google Classroom - access course materials, submit assignments, and stay connected with your learning journey.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3402449" y="4994434"/>
            <a:ext cx="551307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Safe Internet Practices: Be a Smart Digital Citizen</a:t>
            </a:r>
            <a:endParaRPr lang="en-US" sz="1750" dirty="0"/>
          </a:p>
        </p:txBody>
      </p:sp>
      <p:sp>
        <p:nvSpPr>
          <p:cNvPr id="28" name="Shape 22"/>
          <p:cNvSpPr/>
          <p:nvPr/>
        </p:nvSpPr>
        <p:spPr>
          <a:xfrm>
            <a:off x="3402449" y="5532953"/>
            <a:ext cx="3884414" cy="103143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3402449" y="5517713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30" name="Shape 24"/>
          <p:cNvSpPr/>
          <p:nvPr/>
        </p:nvSpPr>
        <p:spPr>
          <a:xfrm>
            <a:off x="5174516" y="536293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3E2513"/>
          </a:solidFill>
          <a:ln/>
        </p:spPr>
      </p:sp>
      <p:sp>
        <p:nvSpPr>
          <p:cNvPr id="31" name="Text 25"/>
          <p:cNvSpPr/>
          <p:nvPr/>
        </p:nvSpPr>
        <p:spPr>
          <a:xfrm>
            <a:off x="5276552" y="5447943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3531037" y="5816441"/>
            <a:ext cx="332958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Strong Passwords &amp; Two-Factor Authentication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531037" y="6027539"/>
            <a:ext cx="362723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Protect your accounts with unique, complex passwords and enable 2FA wherever possible. Never reuse passwords across different sites.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7343537" y="5532953"/>
            <a:ext cx="3884414" cy="103143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/>
        </p:spPr>
      </p:sp>
      <p:sp>
        <p:nvSpPr>
          <p:cNvPr id="35" name="Shape 29"/>
          <p:cNvSpPr/>
          <p:nvPr/>
        </p:nvSpPr>
        <p:spPr>
          <a:xfrm>
            <a:off x="7343537" y="5517713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36" name="Shape 30"/>
          <p:cNvSpPr/>
          <p:nvPr/>
        </p:nvSpPr>
        <p:spPr>
          <a:xfrm>
            <a:off x="9115604" y="5362932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3E2513"/>
          </a:solidFill>
          <a:ln/>
        </p:spPr>
      </p:sp>
      <p:sp>
        <p:nvSpPr>
          <p:cNvPr id="37" name="Text 31"/>
          <p:cNvSpPr/>
          <p:nvPr/>
        </p:nvSpPr>
        <p:spPr>
          <a:xfrm>
            <a:off x="9217640" y="5447943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7472124" y="5816441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Privacy Settings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7472124" y="6027539"/>
            <a:ext cx="362723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Regularly review and adjust privacy settings on social media and online accounts. Control who sees your personal information and posts.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3402449" y="6791087"/>
            <a:ext cx="3884414" cy="103143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/>
        </p:spPr>
      </p:sp>
      <p:sp>
        <p:nvSpPr>
          <p:cNvPr id="41" name="Shape 35"/>
          <p:cNvSpPr/>
          <p:nvPr/>
        </p:nvSpPr>
        <p:spPr>
          <a:xfrm>
            <a:off x="3402449" y="6775847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42" name="Shape 36"/>
          <p:cNvSpPr/>
          <p:nvPr/>
        </p:nvSpPr>
        <p:spPr>
          <a:xfrm>
            <a:off x="5174516" y="6621066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3E2513"/>
          </a:solidFill>
          <a:ln/>
        </p:spPr>
      </p:sp>
      <p:sp>
        <p:nvSpPr>
          <p:cNvPr id="43" name="Text 37"/>
          <p:cNvSpPr/>
          <p:nvPr/>
        </p:nvSpPr>
        <p:spPr>
          <a:xfrm>
            <a:off x="5276552" y="6706076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3531037" y="707457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Phishing Awareness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3531037" y="7285673"/>
            <a:ext cx="362723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 wary of suspicious emails, links, or attachments. Never share personal or financial information in response to unsolicited requests.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7343537" y="6791087"/>
            <a:ext cx="3884414" cy="1031438"/>
          </a:xfrm>
          <a:prstGeom prst="roundRect">
            <a:avLst>
              <a:gd name="adj" fmla="val 7092"/>
            </a:avLst>
          </a:prstGeom>
          <a:solidFill>
            <a:srgbClr val="FFFFFF"/>
          </a:solidFill>
          <a:ln/>
        </p:spPr>
      </p:sp>
      <p:sp>
        <p:nvSpPr>
          <p:cNvPr id="47" name="Shape 41"/>
          <p:cNvSpPr/>
          <p:nvPr/>
        </p:nvSpPr>
        <p:spPr>
          <a:xfrm>
            <a:off x="7343537" y="6775847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48" name="Shape 42"/>
          <p:cNvSpPr/>
          <p:nvPr/>
        </p:nvSpPr>
        <p:spPr>
          <a:xfrm>
            <a:off x="9115604" y="6621066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3E2513"/>
          </a:solidFill>
          <a:ln/>
        </p:spPr>
      </p:sp>
      <p:sp>
        <p:nvSpPr>
          <p:cNvPr id="49" name="Text 43"/>
          <p:cNvSpPr/>
          <p:nvPr/>
        </p:nvSpPr>
        <p:spPr>
          <a:xfrm>
            <a:off x="9217640" y="6706076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1050" dirty="0"/>
          </a:p>
        </p:txBody>
      </p:sp>
      <p:sp>
        <p:nvSpPr>
          <p:cNvPr id="50" name="Text 44"/>
          <p:cNvSpPr/>
          <p:nvPr/>
        </p:nvSpPr>
        <p:spPr>
          <a:xfrm>
            <a:off x="7472124" y="7074575"/>
            <a:ext cx="175391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Cyberbullying Prevention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7472124" y="7285673"/>
            <a:ext cx="3627239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Treat others online with respect and kindness. Report any instances of cyberbullying or harassment immediately to appropriate authorities.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3402449" y="8049220"/>
            <a:ext cx="3884414" cy="895350"/>
          </a:xfrm>
          <a:prstGeom prst="roundRect">
            <a:avLst>
              <a:gd name="adj" fmla="val 8170"/>
            </a:avLst>
          </a:prstGeom>
          <a:solidFill>
            <a:srgbClr val="FFFFFF"/>
          </a:solidFill>
          <a:ln/>
        </p:spPr>
      </p:sp>
      <p:sp>
        <p:nvSpPr>
          <p:cNvPr id="53" name="Shape 47"/>
          <p:cNvSpPr/>
          <p:nvPr/>
        </p:nvSpPr>
        <p:spPr>
          <a:xfrm>
            <a:off x="3402449" y="8033980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54" name="Shape 48"/>
          <p:cNvSpPr/>
          <p:nvPr/>
        </p:nvSpPr>
        <p:spPr>
          <a:xfrm>
            <a:off x="5174516" y="7879199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3E2513"/>
          </a:solidFill>
          <a:ln/>
        </p:spPr>
      </p:sp>
      <p:sp>
        <p:nvSpPr>
          <p:cNvPr id="55" name="Text 49"/>
          <p:cNvSpPr/>
          <p:nvPr/>
        </p:nvSpPr>
        <p:spPr>
          <a:xfrm>
            <a:off x="5276552" y="7964210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1050" dirty="0"/>
          </a:p>
        </p:txBody>
      </p:sp>
      <p:sp>
        <p:nvSpPr>
          <p:cNvPr id="56" name="Text 50"/>
          <p:cNvSpPr/>
          <p:nvPr/>
        </p:nvSpPr>
        <p:spPr>
          <a:xfrm>
            <a:off x="3531037" y="833270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Critical Evaluation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3531037" y="8543806"/>
            <a:ext cx="362723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Question the source and accuracy of online content. Look for multiple reputable sources before accepting information as fact.</a:t>
            </a:r>
            <a:endParaRPr lang="en-US" sz="850" dirty="0"/>
          </a:p>
        </p:txBody>
      </p:sp>
      <p:sp>
        <p:nvSpPr>
          <p:cNvPr id="58" name="Shape 52"/>
          <p:cNvSpPr/>
          <p:nvPr/>
        </p:nvSpPr>
        <p:spPr>
          <a:xfrm>
            <a:off x="7343537" y="8049220"/>
            <a:ext cx="3884414" cy="895350"/>
          </a:xfrm>
          <a:prstGeom prst="roundRect">
            <a:avLst>
              <a:gd name="adj" fmla="val 8170"/>
            </a:avLst>
          </a:prstGeom>
          <a:solidFill>
            <a:srgbClr val="FFFFFF"/>
          </a:solidFill>
          <a:ln/>
        </p:spPr>
      </p:sp>
      <p:sp>
        <p:nvSpPr>
          <p:cNvPr id="59" name="Shape 53"/>
          <p:cNvSpPr/>
          <p:nvPr/>
        </p:nvSpPr>
        <p:spPr>
          <a:xfrm>
            <a:off x="7343537" y="8033980"/>
            <a:ext cx="3884414" cy="60960"/>
          </a:xfrm>
          <a:prstGeom prst="roundRect">
            <a:avLst>
              <a:gd name="adj" fmla="val 27907"/>
            </a:avLst>
          </a:prstGeom>
          <a:solidFill>
            <a:srgbClr val="3E2513"/>
          </a:solidFill>
          <a:ln/>
        </p:spPr>
      </p:sp>
      <p:sp>
        <p:nvSpPr>
          <p:cNvPr id="60" name="Shape 54"/>
          <p:cNvSpPr/>
          <p:nvPr/>
        </p:nvSpPr>
        <p:spPr>
          <a:xfrm>
            <a:off x="9115604" y="7879199"/>
            <a:ext cx="340162" cy="340162"/>
          </a:xfrm>
          <a:prstGeom prst="roundRect">
            <a:avLst>
              <a:gd name="adj" fmla="val 268813"/>
            </a:avLst>
          </a:prstGeom>
          <a:solidFill>
            <a:srgbClr val="3E2513"/>
          </a:solidFill>
          <a:ln/>
        </p:spPr>
      </p:sp>
      <p:sp>
        <p:nvSpPr>
          <p:cNvPr id="61" name="Text 55"/>
          <p:cNvSpPr/>
          <p:nvPr/>
        </p:nvSpPr>
        <p:spPr>
          <a:xfrm>
            <a:off x="9217640" y="7964210"/>
            <a:ext cx="136088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6</a:t>
            </a:r>
            <a:endParaRPr lang="en-US" sz="1050" dirty="0"/>
          </a:p>
        </p:txBody>
      </p:sp>
      <p:sp>
        <p:nvSpPr>
          <p:cNvPr id="62" name="Text 56"/>
          <p:cNvSpPr/>
          <p:nvPr/>
        </p:nvSpPr>
        <p:spPr>
          <a:xfrm>
            <a:off x="7472124" y="8332708"/>
            <a:ext cx="195857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Digital Footprint Awareness</a:t>
            </a:r>
            <a:endParaRPr lang="en-US" sz="1100" dirty="0"/>
          </a:p>
        </p:txBody>
      </p:sp>
      <p:sp>
        <p:nvSpPr>
          <p:cNvPr id="63" name="Text 57"/>
          <p:cNvSpPr/>
          <p:nvPr/>
        </p:nvSpPr>
        <p:spPr>
          <a:xfrm>
            <a:off x="7472124" y="8543806"/>
            <a:ext cx="362723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 that everything you post online can be permanent. Think carefully before you share, comment, or like content.</a:t>
            </a:r>
            <a:endParaRPr lang="en-US" sz="850" dirty="0"/>
          </a:p>
        </p:txBody>
      </p:sp>
      <p:sp>
        <p:nvSpPr>
          <p:cNvPr id="64" name="Text 58"/>
          <p:cNvSpPr/>
          <p:nvPr/>
        </p:nvSpPr>
        <p:spPr>
          <a:xfrm>
            <a:off x="3402449" y="9029581"/>
            <a:ext cx="524672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Professional Online Presence &amp; Email Etiquette</a:t>
            </a:r>
            <a:endParaRPr lang="en-US" sz="1750" dirty="0"/>
          </a:p>
        </p:txBody>
      </p:sp>
      <p:sp>
        <p:nvSpPr>
          <p:cNvPr id="65" name="Text 59"/>
          <p:cNvSpPr/>
          <p:nvPr/>
        </p:nvSpPr>
        <p:spPr>
          <a:xfrm>
            <a:off x="3402449" y="9398079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850" dirty="0"/>
          </a:p>
        </p:txBody>
      </p:sp>
      <p:sp>
        <p:nvSpPr>
          <p:cNvPr id="66" name="Shape 60"/>
          <p:cNvSpPr/>
          <p:nvPr/>
        </p:nvSpPr>
        <p:spPr>
          <a:xfrm>
            <a:off x="3402449" y="9575483"/>
            <a:ext cx="3884414" cy="1524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7" name="Text 61"/>
          <p:cNvSpPr/>
          <p:nvPr/>
        </p:nvSpPr>
        <p:spPr>
          <a:xfrm>
            <a:off x="3402449" y="966263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Professional Profile</a:t>
            </a:r>
            <a:endParaRPr lang="en-US" sz="1100" dirty="0"/>
          </a:p>
        </p:txBody>
      </p:sp>
      <p:sp>
        <p:nvSpPr>
          <p:cNvPr id="68" name="Text 62"/>
          <p:cNvSpPr/>
          <p:nvPr/>
        </p:nvSpPr>
        <p:spPr>
          <a:xfrm>
            <a:off x="3402449" y="9873734"/>
            <a:ext cx="3884414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 a polished LinkedIn profile and professional social media presence that reflects your skills and values.</a:t>
            </a:r>
            <a:endParaRPr lang="en-US" sz="850" dirty="0"/>
          </a:p>
        </p:txBody>
      </p:sp>
      <p:sp>
        <p:nvSpPr>
          <p:cNvPr id="69" name="Text 63"/>
          <p:cNvSpPr/>
          <p:nvPr/>
        </p:nvSpPr>
        <p:spPr>
          <a:xfrm>
            <a:off x="7343537" y="9398079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850" dirty="0"/>
          </a:p>
        </p:txBody>
      </p:sp>
      <p:sp>
        <p:nvSpPr>
          <p:cNvPr id="70" name="Shape 64"/>
          <p:cNvSpPr/>
          <p:nvPr/>
        </p:nvSpPr>
        <p:spPr>
          <a:xfrm>
            <a:off x="7343537" y="9575483"/>
            <a:ext cx="3884414" cy="1524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71" name="Text 65"/>
          <p:cNvSpPr/>
          <p:nvPr/>
        </p:nvSpPr>
        <p:spPr>
          <a:xfrm>
            <a:off x="7343537" y="966263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Email Structure</a:t>
            </a:r>
            <a:endParaRPr lang="en-US" sz="1100" dirty="0"/>
          </a:p>
        </p:txBody>
      </p:sp>
      <p:sp>
        <p:nvSpPr>
          <p:cNvPr id="72" name="Text 66"/>
          <p:cNvSpPr/>
          <p:nvPr/>
        </p:nvSpPr>
        <p:spPr>
          <a:xfrm>
            <a:off x="7343537" y="9873734"/>
            <a:ext cx="3884414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clear subject lines, professional greetings, and concise body text. Always include a proper signature with contact details.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3402449" y="10287595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850" dirty="0"/>
          </a:p>
        </p:txBody>
      </p:sp>
      <p:sp>
        <p:nvSpPr>
          <p:cNvPr id="74" name="Shape 68"/>
          <p:cNvSpPr/>
          <p:nvPr/>
        </p:nvSpPr>
        <p:spPr>
          <a:xfrm>
            <a:off x="3402449" y="10464998"/>
            <a:ext cx="3884414" cy="1524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75" name="Text 69"/>
          <p:cNvSpPr/>
          <p:nvPr/>
        </p:nvSpPr>
        <p:spPr>
          <a:xfrm>
            <a:off x="3402449" y="10552152"/>
            <a:ext cx="1565791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Professional Language</a:t>
            </a:r>
            <a:endParaRPr lang="en-US" sz="1100" dirty="0"/>
          </a:p>
        </p:txBody>
      </p:sp>
      <p:sp>
        <p:nvSpPr>
          <p:cNvPr id="76" name="Text 70"/>
          <p:cNvSpPr/>
          <p:nvPr/>
        </p:nvSpPr>
        <p:spPr>
          <a:xfrm>
            <a:off x="3402449" y="10763250"/>
            <a:ext cx="3884414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Avoid slang, emojis, and excessive exclamation marks. Proofread before sending to ensure clarity and professionalism.</a:t>
            </a:r>
            <a:endParaRPr lang="en-US" sz="850" dirty="0"/>
          </a:p>
        </p:txBody>
      </p:sp>
      <p:sp>
        <p:nvSpPr>
          <p:cNvPr id="77" name="Text 71"/>
          <p:cNvSpPr/>
          <p:nvPr/>
        </p:nvSpPr>
        <p:spPr>
          <a:xfrm>
            <a:off x="7343537" y="10287595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850" dirty="0"/>
          </a:p>
        </p:txBody>
      </p:sp>
      <p:sp>
        <p:nvSpPr>
          <p:cNvPr id="78" name="Shape 72"/>
          <p:cNvSpPr/>
          <p:nvPr/>
        </p:nvSpPr>
        <p:spPr>
          <a:xfrm>
            <a:off x="7343537" y="10464998"/>
            <a:ext cx="3884414" cy="1524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79" name="Text 73"/>
          <p:cNvSpPr/>
          <p:nvPr/>
        </p:nvSpPr>
        <p:spPr>
          <a:xfrm>
            <a:off x="7343537" y="1055215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Timely Responses</a:t>
            </a:r>
            <a:endParaRPr lang="en-US" sz="1100" dirty="0"/>
          </a:p>
        </p:txBody>
      </p:sp>
      <p:sp>
        <p:nvSpPr>
          <p:cNvPr id="80" name="Text 74"/>
          <p:cNvSpPr/>
          <p:nvPr/>
        </p:nvSpPr>
        <p:spPr>
          <a:xfrm>
            <a:off x="7343537" y="10763250"/>
            <a:ext cx="3884414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Respond to professional emails within 24-48 hours. If you need more time, acknowledge receipt and provide a timeline.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2026-03-23T14:07:51Z</dcterms:created>
  <dcterms:modified xsi:type="dcterms:W3CDTF">2026-03-23T14:07:51Z</dcterms:modified>
</cp:coreProperties>
</file>